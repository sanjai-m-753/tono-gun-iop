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57" r:id="rId3"/>
    <p:sldId id="266" r:id="rId4"/>
    <p:sldId id="258" r:id="rId5"/>
    <p:sldId id="267" r:id="rId6"/>
    <p:sldId id="268" r:id="rId7"/>
    <p:sldId id="269" r:id="rId8"/>
    <p:sldId id="259" r:id="rId9"/>
    <p:sldId id="270" r:id="rId10"/>
    <p:sldId id="27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79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7173"/>
            <a:ext cx="12189714" cy="4785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1534" y="220979"/>
            <a:ext cx="694893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338" y="2264663"/>
            <a:ext cx="5519420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28082" y="6463538"/>
            <a:ext cx="204533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5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10" dirty="0"/>
              <a:t>submission-</a:t>
            </a:r>
            <a:r>
              <a:rPr spc="-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4881" y="6463538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B98BD9-CD6B-1D81-7551-FE0B84408B00}"/>
              </a:ext>
            </a:extLst>
          </p:cNvPr>
          <p:cNvSpPr txBox="1"/>
          <p:nvPr/>
        </p:nvSpPr>
        <p:spPr>
          <a:xfrm>
            <a:off x="685800" y="838200"/>
            <a:ext cx="1021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TONO-GUN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“Early Eye Pressure Check, Anywhere”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A8F552-6111-4A8F-1807-8286277C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300" y="-3313"/>
            <a:ext cx="2171700" cy="1447800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EF8B9509-7C78-E1F8-DE1B-ED9CC1D4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0" y="3886200"/>
            <a:ext cx="6948931" cy="1846659"/>
          </a:xfrm>
        </p:spPr>
        <p:txBody>
          <a:bodyPr/>
          <a:lstStyle/>
          <a:p>
            <a:r>
              <a:rPr lang="en-US" sz="2400" dirty="0"/>
              <a:t>TEAM NME : </a:t>
            </a:r>
            <a:r>
              <a:rPr lang="en-US" sz="2400" b="0" dirty="0"/>
              <a:t>PRIME SQUAD</a:t>
            </a:r>
            <a:br>
              <a:rPr lang="en-US" sz="2400" dirty="0"/>
            </a:br>
            <a:r>
              <a:rPr lang="en-US" sz="2400" dirty="0"/>
              <a:t>TEAM MEMBERS :</a:t>
            </a:r>
            <a:br>
              <a:rPr lang="en-US" sz="2400" dirty="0"/>
            </a:br>
            <a:r>
              <a:rPr lang="en-US" sz="2400" dirty="0"/>
              <a:t>                 </a:t>
            </a:r>
            <a:r>
              <a:rPr lang="en-US" sz="2400" b="0" dirty="0"/>
              <a:t>1. SANJAI PRASATH M</a:t>
            </a:r>
            <a:br>
              <a:rPr lang="en-US" sz="2400" b="0" dirty="0"/>
            </a:br>
            <a:r>
              <a:rPr lang="en-US" sz="2400" b="0" dirty="0"/>
              <a:t>                 2. KESAVAN S</a:t>
            </a:r>
            <a:br>
              <a:rPr lang="en-US" sz="2400" b="0" dirty="0"/>
            </a:br>
            <a:r>
              <a:rPr lang="en-US" sz="2400" b="0" dirty="0"/>
              <a:t>                 3. MOURIYA M</a:t>
            </a:r>
            <a:endParaRPr lang="en-IN" sz="2400" b="0" dirty="0"/>
          </a:p>
        </p:txBody>
      </p:sp>
    </p:spTree>
    <p:extLst>
      <p:ext uri="{BB962C8B-B14F-4D97-AF65-F5344CB8AC3E}">
        <p14:creationId xmlns:p14="http://schemas.microsoft.com/office/powerpoint/2010/main" val="23566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688" y="447547"/>
            <a:ext cx="822071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8530" marR="5080" indent="-2196465"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TONO</a:t>
            </a:r>
            <a:r>
              <a:rPr lang="en-US" sz="2800" spc="-75" dirty="0"/>
              <a:t> </a:t>
            </a:r>
            <a:r>
              <a:rPr lang="en-US" sz="2800" dirty="0"/>
              <a:t>GUN:</a:t>
            </a:r>
            <a:r>
              <a:rPr lang="en-US" sz="2800" spc="-40" dirty="0"/>
              <a:t> </a:t>
            </a:r>
            <a:r>
              <a:rPr lang="en-US" sz="2800" spc="-20" dirty="0"/>
              <a:t>Mini</a:t>
            </a:r>
            <a:r>
              <a:rPr lang="en-US" sz="2800" spc="-170" dirty="0"/>
              <a:t>ature Non-contact </a:t>
            </a:r>
            <a:r>
              <a:rPr lang="en-US" sz="2800" spc="-45" dirty="0"/>
              <a:t>Air-</a:t>
            </a:r>
            <a:r>
              <a:rPr lang="en-US" sz="2800" dirty="0"/>
              <a:t>Puff</a:t>
            </a:r>
            <a:r>
              <a:rPr lang="en-US" sz="2800" spc="-100" dirty="0"/>
              <a:t>                                             </a:t>
            </a:r>
            <a:r>
              <a:rPr lang="en-US" sz="2800" spc="-35" dirty="0"/>
              <a:t>Tonometer</a:t>
            </a:r>
            <a:r>
              <a:rPr lang="en-US" sz="2800" spc="-85" dirty="0"/>
              <a:t> </a:t>
            </a:r>
            <a:r>
              <a:rPr lang="en-US" sz="2800" spc="-25" dirty="0"/>
              <a:t>for </a:t>
            </a:r>
            <a:r>
              <a:rPr lang="en-US" sz="2800" dirty="0"/>
              <a:t>Measuring</a:t>
            </a:r>
            <a:r>
              <a:rPr lang="en-US" sz="2800" spc="-140" dirty="0"/>
              <a:t> </a:t>
            </a:r>
            <a:r>
              <a:rPr lang="en-US" sz="2800" spc="-25" dirty="0"/>
              <a:t>IOP</a:t>
            </a:r>
            <a:endParaRPr lang="en-US" sz="28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50" smtClean="0"/>
              <a:t>2</a:t>
            </a:fld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63568-AD86-7873-61EA-9EE64275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0" y="0"/>
            <a:ext cx="1866900" cy="1244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C62005-96C7-162E-91DA-DBD6AFCD7B28}"/>
              </a:ext>
            </a:extLst>
          </p:cNvPr>
          <p:cNvSpPr txBox="1"/>
          <p:nvPr/>
        </p:nvSpPr>
        <p:spPr>
          <a:xfrm>
            <a:off x="228600" y="1600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Market Size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A803240-ED04-DD04-2E3D-FD996C43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494438"/>
            <a:ext cx="8534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Glaucoma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leading cause of irreversible blindness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80+ million people worldwide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many undiagnosed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rural population with limited eye screening access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IOP screening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lifelong vision loss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14CD-FE5D-0C27-362A-AF2FB175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1000"/>
            <a:ext cx="9982200" cy="553998"/>
          </a:xfrm>
        </p:spPr>
        <p:txBody>
          <a:bodyPr/>
          <a:lstStyle/>
          <a:p>
            <a:pPr algn="l"/>
            <a:r>
              <a:rPr lang="en-US" dirty="0"/>
              <a:t>Problem &amp; Existing Solutions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8808E-3B71-FAFA-C83E-231570D37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04900"/>
            <a:ext cx="9677400" cy="5067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pPr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glaucoma detection</a:t>
            </a:r>
          </a:p>
          <a:p>
            <a:pPr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Fear, shame, and hesitation during hospital visits</a:t>
            </a:r>
          </a:p>
          <a:p>
            <a:pPr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&amp; bulky eye pressure systems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</a:p>
          <a:p>
            <a:pPr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Goldmann / air-puff </a:t>
            </a:r>
            <a:r>
              <a:rPr lang="en-I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tonometers</a:t>
            </a:r>
            <a:endParaRPr lang="en-I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Clinic-dependent, costly, not portable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</a:t>
            </a:r>
            <a:b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easy, accessible way for frequent IOP screening</a:t>
            </a:r>
          </a:p>
          <a:p>
            <a:endParaRPr lang="en-I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TOMEY Non Contact Tonometer FT-1000 - Ophthalmic Products">
            <a:extLst>
              <a:ext uri="{FF2B5EF4-FFF2-40B4-BE49-F238E27FC236}">
                <a16:creationId xmlns:a16="http://schemas.microsoft.com/office/drawing/2014/main" id="{0DAB20EC-F69B-8E9E-36A5-1A6067868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893" y="533400"/>
            <a:ext cx="4834889" cy="537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8264D-7A50-7016-40C1-9A7323273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564" y="36443"/>
            <a:ext cx="1888436" cy="1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3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573" y="778207"/>
            <a:ext cx="838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IN" sz="3200" b="1" dirty="0"/>
              <a:t>Solution – TONO-GUN (Proposed Concept)</a:t>
            </a:r>
            <a:endParaRPr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6592" y="1600199"/>
            <a:ext cx="4933008" cy="392813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F50D6-492B-A3A5-7D20-F61908DD3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519" y="0"/>
            <a:ext cx="1994502" cy="13296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78074-9668-07B1-5C0C-0810B374826D}"/>
              </a:ext>
            </a:extLst>
          </p:cNvPr>
          <p:cNvSpPr txBox="1"/>
          <p:nvPr/>
        </p:nvSpPr>
        <p:spPr>
          <a:xfrm>
            <a:off x="417216" y="1720840"/>
            <a:ext cx="5221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C328AE7-1735-4FF3-0EE3-D81EF3F3C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8194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32CAF5-DA87-AF66-FF22-E0549863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0" y="1524000"/>
            <a:ext cx="701040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Compact, non-contact air-puff device for measuring intraocular pressure (IOP)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controlled air puff to gently deform the cornea without touching the eye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Optical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(light source, lenses, beam splitter)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corneal deformation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 measures the air pressure at the point of corneal flattening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measured pressure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IOP value (mmHg)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Quick, painless, and hygienic screening process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design suitable for clinics, camps, and point-of-care use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frequent and early glaucoma screening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AB6E-86DB-0040-22E7-1BFC3AB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6948931" cy="574040"/>
          </a:xfrm>
        </p:spPr>
        <p:txBody>
          <a:bodyPr/>
          <a:lstStyle/>
          <a:p>
            <a:r>
              <a:rPr lang="en-US" dirty="0"/>
              <a:t>User Suffering &amp; Why It Matters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DB647-DBF4-151D-EBDE-312AE6825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8641"/>
            <a:ext cx="8268462" cy="47397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Suffering: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avoid check-ups due to fear of judgement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loss detected only at late stage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patients travel long distances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blindness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independence &amp; income</a:t>
            </a:r>
          </a:p>
          <a:p>
            <a:pPr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healthcare burden</a:t>
            </a:r>
          </a:p>
          <a:p>
            <a:pPr algn="just"/>
            <a:endParaRPr lang="en-IN" dirty="0"/>
          </a:p>
        </p:txBody>
      </p:sp>
      <p:pic>
        <p:nvPicPr>
          <p:cNvPr id="6146" name="Picture 2" descr="Questions and Answers: Non-Contact Tonometer Safety in the COVID-19 Era.">
            <a:extLst>
              <a:ext uri="{FF2B5EF4-FFF2-40B4-BE49-F238E27FC236}">
                <a16:creationId xmlns:a16="http://schemas.microsoft.com/office/drawing/2014/main" id="{44A0C55D-B678-BF79-1AA8-2C16E61E7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129540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47035E-97E9-DD8C-EA35-E22DE394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519" y="0"/>
            <a:ext cx="1994502" cy="132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3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C2A8-195A-A4B8-5F4C-2D8D2FBB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6948931" cy="574040"/>
          </a:xfrm>
        </p:spPr>
        <p:txBody>
          <a:bodyPr/>
          <a:lstStyle/>
          <a:p>
            <a:r>
              <a:rPr lang="en-IN" dirty="0"/>
              <a:t>Target Customers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5A328-C097-42A7-A4BE-69745812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336119"/>
            <a:ext cx="5519420" cy="418576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Glaucoma patients (40+ age)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doctors &amp; optometrists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&amp; clinics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care 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&amp; rural screening programs</a:t>
            </a:r>
          </a:p>
          <a:p>
            <a:endParaRPr lang="en-IN" dirty="0"/>
          </a:p>
        </p:txBody>
      </p:sp>
      <p:pic>
        <p:nvPicPr>
          <p:cNvPr id="8194" name="Picture 2" descr="Glaucoma - Symptoms, Types, Diagnostics &amp; Treatment in Delhi">
            <a:extLst>
              <a:ext uri="{FF2B5EF4-FFF2-40B4-BE49-F238E27FC236}">
                <a16:creationId xmlns:a16="http://schemas.microsoft.com/office/drawing/2014/main" id="{026A346D-AFB8-9586-EE24-B481BB4E0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504" y="1031240"/>
            <a:ext cx="4918364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Glaucoma Fall River, MA | Glaucoma Treatment Providence, RI">
            <a:extLst>
              <a:ext uri="{FF2B5EF4-FFF2-40B4-BE49-F238E27FC236}">
                <a16:creationId xmlns:a16="http://schemas.microsoft.com/office/drawing/2014/main" id="{B0DEBA24-009F-1E6C-412F-41866CA5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706" y="3364944"/>
            <a:ext cx="6034218" cy="239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F0E10D-1EAB-B8D0-91EB-AAAA2C705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199" y="0"/>
            <a:ext cx="1478821" cy="98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9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551E-D252-6AA9-2E48-F4BDB40B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" y="533400"/>
            <a:ext cx="6948931" cy="553998"/>
          </a:xfrm>
        </p:spPr>
        <p:txBody>
          <a:bodyPr/>
          <a:lstStyle/>
          <a:p>
            <a:r>
              <a:rPr lang="en-IN" dirty="0"/>
              <a:t>Revenue Stream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C839D-4396-A116-92FF-4A3BCEF0D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7543800" cy="3539430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sales to clinics &amp; hospitals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supply to screening camps &amp; NGOs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&amp; calibration services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upgrade versions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device + recurring service</a:t>
            </a:r>
          </a:p>
          <a:p>
            <a:pPr algn="just"/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0B900-49D9-9183-D120-A35ED99FE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765300"/>
            <a:ext cx="3867150" cy="257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82057-14C8-4B60-00FB-2D0F2B8D5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9" y="0"/>
            <a:ext cx="1783621" cy="118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3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1475" y="388947"/>
            <a:ext cx="694893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Competitor Analysis – </a:t>
            </a:r>
            <a:r>
              <a:rPr lang="en-IN" sz="3200" dirty="0" err="1"/>
              <a:t>Tonometers</a:t>
            </a:r>
            <a:endParaRPr sz="3200"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3F22C-DF97-7E31-135C-F0F3BF3D4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89249"/>
              </p:ext>
            </p:extLst>
          </p:nvPr>
        </p:nvGraphicFramePr>
        <p:xfrm>
          <a:off x="2247163" y="2125962"/>
          <a:ext cx="7323304" cy="3589038"/>
        </p:xfrm>
        <a:graphic>
          <a:graphicData uri="http://schemas.openxmlformats.org/drawingml/2006/table">
            <a:tbl>
              <a:tblPr/>
              <a:tblGrid>
                <a:gridCol w="1830826">
                  <a:extLst>
                    <a:ext uri="{9D8B030D-6E8A-4147-A177-3AD203B41FA5}">
                      <a16:colId xmlns:a16="http://schemas.microsoft.com/office/drawing/2014/main" val="1468300376"/>
                    </a:ext>
                  </a:extLst>
                </a:gridCol>
                <a:gridCol w="1830826">
                  <a:extLst>
                    <a:ext uri="{9D8B030D-6E8A-4147-A177-3AD203B41FA5}">
                      <a16:colId xmlns:a16="http://schemas.microsoft.com/office/drawing/2014/main" val="651316321"/>
                    </a:ext>
                  </a:extLst>
                </a:gridCol>
                <a:gridCol w="1830826">
                  <a:extLst>
                    <a:ext uri="{9D8B030D-6E8A-4147-A177-3AD203B41FA5}">
                      <a16:colId xmlns:a16="http://schemas.microsoft.com/office/drawing/2014/main" val="3860502365"/>
                    </a:ext>
                  </a:extLst>
                </a:gridCol>
                <a:gridCol w="1830826">
                  <a:extLst>
                    <a:ext uri="{9D8B030D-6E8A-4147-A177-3AD203B41FA5}">
                      <a16:colId xmlns:a16="http://schemas.microsoft.com/office/drawing/2014/main" val="2245084806"/>
                    </a:ext>
                  </a:extLst>
                </a:gridCol>
              </a:tblGrid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 dirty="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127819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09942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402331"/>
                  </a:ext>
                </a:extLst>
              </a:tr>
              <a:tr h="2751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108314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516176"/>
                  </a:ext>
                </a:extLst>
              </a:tr>
              <a:tr h="2751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435033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 dirty="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711790"/>
                  </a:ext>
                </a:extLst>
              </a:tr>
              <a:tr h="2751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578701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470217"/>
                  </a:ext>
                </a:extLst>
              </a:tr>
              <a:tr h="3948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00" dirty="0"/>
                    </a:p>
                  </a:txBody>
                  <a:tcPr marL="18228" marR="18228" marT="9114" marB="91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7392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AE332C-7785-49F2-06DA-A301D22E8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583913"/>
              </p:ext>
            </p:extLst>
          </p:nvPr>
        </p:nvGraphicFramePr>
        <p:xfrm>
          <a:off x="457200" y="1143000"/>
          <a:ext cx="11084052" cy="4729178"/>
        </p:xfrm>
        <a:graphic>
          <a:graphicData uri="http://schemas.openxmlformats.org/drawingml/2006/table">
            <a:tbl>
              <a:tblPr/>
              <a:tblGrid>
                <a:gridCol w="2771013">
                  <a:extLst>
                    <a:ext uri="{9D8B030D-6E8A-4147-A177-3AD203B41FA5}">
                      <a16:colId xmlns:a16="http://schemas.microsoft.com/office/drawing/2014/main" val="3576787566"/>
                    </a:ext>
                  </a:extLst>
                </a:gridCol>
                <a:gridCol w="2771013">
                  <a:extLst>
                    <a:ext uri="{9D8B030D-6E8A-4147-A177-3AD203B41FA5}">
                      <a16:colId xmlns:a16="http://schemas.microsoft.com/office/drawing/2014/main" val="743299319"/>
                    </a:ext>
                  </a:extLst>
                </a:gridCol>
                <a:gridCol w="2771013">
                  <a:extLst>
                    <a:ext uri="{9D8B030D-6E8A-4147-A177-3AD203B41FA5}">
                      <a16:colId xmlns:a16="http://schemas.microsoft.com/office/drawing/2014/main" val="4162192638"/>
                    </a:ext>
                  </a:extLst>
                </a:gridCol>
                <a:gridCol w="2771013">
                  <a:extLst>
                    <a:ext uri="{9D8B030D-6E8A-4147-A177-3AD203B41FA5}">
                      <a16:colId xmlns:a16="http://schemas.microsoft.com/office/drawing/2014/main" val="3038156546"/>
                    </a:ext>
                  </a:extLst>
                </a:gridCol>
              </a:tblGrid>
              <a:tr h="546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Goldmann Applanation (Keeler, US)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Air-Puff Tonometer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TONO-GUN (Proposed)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905453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/ Non-contact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Non-contact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Non-contact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3398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(gold standard)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Moderate–high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Targeted for screening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267434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Anesthesia Required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4677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Portability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(slit-lamp based)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(table-top)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(handheld)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4687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Low–cost focused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48952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Ease of Use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trained doctor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clinic setup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Easy, minimal training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472578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Comfort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good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234313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Rural / Camps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78002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diagnosis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screening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Frequent &amp; early screening</a:t>
                      </a:r>
                    </a:p>
                  </a:txBody>
                  <a:tcPr marL="18228" marR="18228" marT="9114" marB="91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8302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91A0CA6-3943-7DC1-B540-F14250724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9" y="0"/>
            <a:ext cx="1555021" cy="10366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4465-409A-7A08-19A0-FC7552F1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" y="152400"/>
            <a:ext cx="6948931" cy="574040"/>
          </a:xfrm>
        </p:spPr>
        <p:txBody>
          <a:bodyPr/>
          <a:lstStyle/>
          <a:p>
            <a:r>
              <a:rPr lang="en-IN" dirty="0"/>
              <a:t>Requirements &amp;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1BD08-D6CD-0A1B-C065-9C5C11343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954" y="726440"/>
            <a:ext cx="5519420" cy="59093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Requirements: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air-puff system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pressure range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display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power source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1: Design &amp; component selection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2: Prototype development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3: Testing &amp; calibration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4: User validation &amp; refinement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2B737-2A3B-30A2-DA46-3D71BD2D3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519" y="0"/>
            <a:ext cx="1994502" cy="132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5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1B49-E0AF-0D76-268D-EA31DB72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24000"/>
            <a:ext cx="7360666" cy="830997"/>
          </a:xfrm>
        </p:spPr>
        <p:txBody>
          <a:bodyPr/>
          <a:lstStyle/>
          <a:p>
            <a:pPr algn="ctr"/>
            <a:r>
              <a:rPr lang="en-IN" sz="54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16D2-66FC-1EDA-CF91-073BA048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2667000"/>
            <a:ext cx="9906000" cy="1292662"/>
          </a:xfrm>
        </p:spPr>
        <p:txBody>
          <a:bodyPr/>
          <a:lstStyle/>
          <a:p>
            <a:pPr algn="ctr"/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 and attention.</a:t>
            </a:r>
            <a:b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welcome your questions and feedback.</a:t>
            </a:r>
            <a:endParaRPr lang="en-I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E0802-B5A0-8949-C4AA-5E0928D4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519" y="0"/>
            <a:ext cx="1994502" cy="132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1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0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496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TEAM NME : PRIME SQUAD TEAM MEMBERS :                  1. SANJAI PRASATH M                  2. KESAVAN S                  3. MOURIYA M</vt:lpstr>
      <vt:lpstr>TONO GUN: Miniature Non-contact Air-Puff                                             Tonometer for Measuring IOP</vt:lpstr>
      <vt:lpstr>Problem &amp; Existing Solutions</vt:lpstr>
      <vt:lpstr>PowerPoint Presentation</vt:lpstr>
      <vt:lpstr>User Suffering &amp; Why It Matters</vt:lpstr>
      <vt:lpstr>Target Customers </vt:lpstr>
      <vt:lpstr>Revenue Stream</vt:lpstr>
      <vt:lpstr>Competitor Analysis – Tonometers</vt:lpstr>
      <vt:lpstr>Requirements &amp;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SANJAI PRASATH M</cp:lastModifiedBy>
  <cp:revision>4</cp:revision>
  <dcterms:created xsi:type="dcterms:W3CDTF">2025-04-11T12:46:51Z</dcterms:created>
  <dcterms:modified xsi:type="dcterms:W3CDTF">2026-01-07T02:53:51Z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2025-04-11T00:00:00Z</vt:filetime>
  </property>
  <property fmtid="{D5CDD505-2E9C-101B-9397-08002B2CF9AE}" pid="5" name="Producer">
    <vt:lpwstr>Adobe PDF Services</vt:lpwstr>
  </property>
</Properties>
</file>